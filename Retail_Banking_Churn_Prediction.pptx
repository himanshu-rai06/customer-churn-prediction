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6233F"/>
                </a:solidFill>
                <a:latin typeface="Cambria"/>
              </a:rPr>
              <a:t>Churn Rate by Number of Products Held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D852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product</c:v>
                  </c:pt>
                  <c:pt idx="1">
                    <c:v>2 products</c:v>
                  </c:pt>
                  <c:pt idx="2">
                    <c:v>3 products</c:v>
                  </c:pt>
                  <c:pt idx="3">
                    <c:v>4 products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27.71</c:v>
                </c:pt>
                <c:pt idx="1">
                  <c:v>7.58</c:v>
                </c:pt>
                <c:pt idx="2">
                  <c:v>82.71</c:v>
                </c:pt>
                <c:pt idx="3">
                  <c:v>100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3F"/>
                </a:solidFill>
                <a:latin typeface="Cambria"/>
              </a:defRPr>
            </a:pPr>
            <a:r>
              <a:rPr sz="1200" b="0" i="0" u="none" strike="noStrike">
                <a:solidFill>
                  <a:srgbClr val="16233F"/>
                </a:solidFill>
                <a:latin typeface="Cambria"/>
              </a:rPr>
              <a:t>Correlation with Churn (Pearson 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Churn</c:v>
                </c:pt>
              </c:strCache>
            </c:strRef>
          </c:tx>
          <c:spPr>
            <a:solidFill>
              <a:srgbClr val="1E8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Age</c:v>
                  </c:pt>
                  <c:pt idx="1">
                    <c:v>Balance</c:v>
                  </c:pt>
                  <c:pt idx="2">
                    <c:v>IsActiveMember</c:v>
                  </c:pt>
                  <c:pt idx="3">
                    <c:v>CreditScore</c:v>
                  </c:pt>
                  <c:pt idx="4">
                    <c:v>Tenure</c:v>
                  </c:pt>
                  <c:pt idx="5">
                    <c:v>EstSalary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0.29</c:v>
                </c:pt>
                <c:pt idx="1">
                  <c:v>0.12</c:v>
                </c:pt>
                <c:pt idx="2">
                  <c:v>-0.16</c:v>
                </c:pt>
                <c:pt idx="3">
                  <c:v>-0.03</c:v>
                </c:pt>
                <c:pt idx="4">
                  <c:v>-0.01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6233F"/>
                </a:solidFill>
                <a:latin typeface="Cambria"/>
              </a:rPr>
              <a:t>ROC-AUC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E8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
Reg.</c:v>
                  </c:pt>
                  <c:pt idx="1">
                    <c:v>Logistic
(bal.)</c:v>
                  </c:pt>
                  <c:pt idx="2">
                    <c:v>Decision
Tree</c:v>
                  </c:pt>
                  <c:pt idx="3">
                    <c:v>Random
Forest</c:v>
                  </c:pt>
                  <c:pt idx="4">
                    <c:v>Gradient
Boosting</c:v>
                  </c:pt>
                  <c:pt idx="5">
                    <c:v>XGBoost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0.773</c:v>
                </c:pt>
                <c:pt idx="1">
                  <c:v>0.775</c:v>
                </c:pt>
                <c:pt idx="2">
                  <c:v>0.825</c:v>
                </c:pt>
                <c:pt idx="3">
                  <c:v>0.866</c:v>
                </c:pt>
                <c:pt idx="4">
                  <c:v>0.867</c:v>
                </c:pt>
                <c:pt idx="5">
                  <c:v>0.859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6233F"/>
                </a:solidFill>
                <a:latin typeface="Cambria"/>
              </a:defRPr>
            </a:pPr>
            <a:r>
              <a:rPr sz="1050" b="0" i="0" u="none" strike="noStrike">
                <a:solidFill>
                  <a:srgbClr val="16233F"/>
                </a:solidFill>
                <a:latin typeface="Cambria"/>
              </a:rPr>
              <a:t>Gradient Boosting Feature Importance (Age omitted from full list for space; ranks #2 by importance)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 Importance</c:v>
                </c:pt>
              </c:strCache>
            </c:strRef>
          </c:tx>
          <c:spPr>
            <a:solidFill>
              <a:srgbClr val="1E8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NumOfProducts</c:v>
                  </c:pt>
                  <c:pt idx="1">
                    <c:v>IsActiveMember</c:v>
                  </c:pt>
                  <c:pt idx="2">
                    <c:v>Balance</c:v>
                  </c:pt>
                  <c:pt idx="3">
                    <c:v>Geo_Germany</c:v>
                  </c:pt>
                  <c:pt idx="4">
                    <c:v>EstimatedSalary</c:v>
                  </c:pt>
                  <c:pt idx="5">
                    <c:v>Engagement_Score</c:v>
                  </c:pt>
                  <c:pt idx="6">
                    <c:v>Balance_to_Salary</c:v>
                  </c:pt>
                  <c:pt idx="7">
                    <c:v>CreditScore</c:v>
                  </c:pt>
                  <c:pt idx="8">
                    <c:v>Age_Tenure_Inter.</c:v>
                  </c:pt>
                  <c:pt idx="9">
                    <c:v>Gender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0.335</c:v>
                </c:pt>
                <c:pt idx="1">
                  <c:v>0.083</c:v>
                </c:pt>
                <c:pt idx="2">
                  <c:v>0.075</c:v>
                </c:pt>
                <c:pt idx="3">
                  <c:v>0.07</c:v>
                </c:pt>
                <c:pt idx="4">
                  <c:v>0.052</c:v>
                </c:pt>
                <c:pt idx="5">
                  <c:v>0.048</c:v>
                </c:pt>
                <c:pt idx="6">
                  <c:v>0.04</c:v>
                </c:pt>
                <c:pt idx="7">
                  <c:v>0.033</c:v>
                </c:pt>
                <c:pt idx="8">
                  <c:v>0.02</c:v>
                </c:pt>
                <c:pt idx="9">
                  <c:v>0.015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6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contribution</c:v>
                </c:pt>
              </c:strCache>
            </c:strRef>
          </c:tx>
          <c:spPr>
            <a:solidFill>
              <a:srgbClr val="D8524F"/>
            </a:solidFill>
            <a:effectLst/>
          </c:spPr>
          <c:invertIfNegative val="0"/>
          <c:dLbls>
            <c:numFmt formatCode="+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4 = NumOfProducts</c:v>
                  </c:pt>
                  <c:pt idx="1">
                    <c:v>58 = Age</c:v>
                  </c:pt>
                  <c:pt idx="2">
                    <c:v>1.333 = Products_per_Year</c:v>
                  </c:pt>
                  <c:pt idx="3">
                    <c:v>4.714 = Balance_to_Salary</c:v>
                  </c:pt>
                  <c:pt idx="4">
                    <c:v>1 = Geography_Germany</c:v>
                  </c:pt>
                  <c:pt idx="5">
                    <c:v>0 = Engagement_Score</c:v>
                  </c:pt>
                  <c:pt idx="6">
                    <c:v>0 = IsActiveMember</c:v>
                  </c:pt>
                  <c:pt idx="7">
                    <c:v>738 = CreditScore</c:v>
                  </c:pt>
                  <c:pt idx="8">
                    <c:v>133,745 = Balance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4.02</c:v>
                </c:pt>
                <c:pt idx="1">
                  <c:v>2.06</c:v>
                </c:pt>
                <c:pt idx="2">
                  <c:v>0.73</c:v>
                </c:pt>
                <c:pt idx="3">
                  <c:v>0.69</c:v>
                </c:pt>
                <c:pt idx="4">
                  <c:v>0.32</c:v>
                </c:pt>
                <c:pt idx="5">
                  <c:v>0.32</c:v>
                </c:pt>
                <c:pt idx="6">
                  <c:v>0.28</c:v>
                </c:pt>
                <c:pt idx="7">
                  <c:v>0.22</c:v>
                </c:pt>
                <c:pt idx="8">
                  <c:v>0.21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b="0" i="0" strike="noStrike" sz="1000" u="none">
                  <a:solidFill>
                    <a:srgbClr val="16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914400"/>
            <a:ext cx="3840480" cy="3840480"/>
          </a:xfrm>
          <a:prstGeom prst="ellipse">
            <a:avLst/>
          </a:prstGeom>
          <a:solidFill>
            <a:srgbClr val="1E8A6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2926080" cy="2926080"/>
          </a:xfrm>
          <a:prstGeom prst="ellipse">
            <a:avLst/>
          </a:prstGeom>
          <a:solidFill>
            <a:srgbClr val="D8524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Churn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Retail Banking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Identifying At-Risk Customers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434840"/>
            <a:ext cx="2011680" cy="0"/>
          </a:xfrm>
          <a:prstGeom prst="line">
            <a:avLst/>
          </a:prstGeom>
          <a:noFill/>
          <a:ln w="38100">
            <a:solidFill>
              <a:srgbClr val="1E8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6634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Rai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5806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" y="6263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4408" y="5806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64408" y="6263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0448" y="5806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70448" y="6263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ROC-AUC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Missed Churner Costs More Than a Wasted Outreach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far more than retaining an existing one, making early identification of at-risk customers a matter of direct financial consequence. This study analyses 10,000 customers of a European retail bank operating in France, Germany, and Spain to build an operationally useful — not just statistically impressive — churn model.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813048"/>
            <a:ext cx="310896" cy="310896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803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7033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—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attributes associate most strongly with churn, via structured EDA.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71416"/>
            <a:ext cx="310896" cy="310896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462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36168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—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 with enough recall to be operationally useful to a retention team.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29784"/>
            <a:ext cx="310896" cy="310896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120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02005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—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predicts what it does, using SHAP, so relationship managers can act with confidence.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60920" y="1554480"/>
            <a:ext cx="4251960" cy="4480560"/>
          </a:xfrm>
          <a:prstGeom prst="roundRect">
            <a:avLst>
              <a:gd name="adj" fmla="val 2581"/>
            </a:avLst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17830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IMBALANCE 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35240" y="21945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635240" y="2880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achievable by a trivial model that predicts "no churn" for every customer — while catching zero actual churners.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3886200"/>
            <a:ext cx="3703320" cy="0"/>
          </a:xfrm>
          <a:prstGeom prst="line">
            <a:avLst/>
          </a:prstGeom>
          <a:noFill/>
          <a:ln w="12700">
            <a:solidFill>
              <a:srgbClr val="3A4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406908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study optimises for recall on the churn class through deliberate threshold tuning — not raw accuracy.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35240" y="5074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549640" y="51206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 benchmarked, from Logistic Regression to XGBoost.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Customers, Twelve Usable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account and demographic attributes for a single point in time (2025). CustomerId, Surname (identifiers) and Year (constant-valued) were dropped as non-informative.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688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1272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/ Germany / Spain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33F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4688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31272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raw features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4688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55080" y="31272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3317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4688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85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89720" y="31272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— a moderate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64240" cy="178308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Geography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behaviour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Balance, Tenure, NumOfProducts, CreditScore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IsActiveMember, HasCrCard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Exited (churned = 1, retained =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Engineered Features, One Data Quality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6479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Balance_to_Salary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÷ Salary — relative financial standing rather than absolute balance.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447288" y="16002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23655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176479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Products_per_Year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11880" y="23774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held ÷ Tenure — rate of product accumulation.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345936" y="16002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76479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Age_Tenure_Interaction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10528" y="23774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× Tenure — tests if age's effect depends on relationship length.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244584" y="16002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23655"/>
          </a:solidFill>
          <a:ln/>
        </p:spPr>
      </p:sp>
      <p:sp>
        <p:nvSpPr>
          <p:cNvPr id="14" name="Text 12"/>
          <p:cNvSpPr/>
          <p:nvPr/>
        </p:nvSpPr>
        <p:spPr>
          <a:xfrm>
            <a:off x="9409176" y="176479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Engagement_Score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09176" y="23774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status × Products held — tests if engagement and product count compound.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10642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307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FIX — BALANCE_TO_SALARY OUTLIERS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60520"/>
          <a:ext cx="7863840" cy="1737360"/>
        </p:xfrm>
        <a:graphic>
          <a:graphicData uri="http://schemas.openxmlformats.org/drawingml/2006/table">
            <a:tbl>
              <a:tblPr/>
              <a:tblGrid>
                <a:gridCol w="2651760"/>
                <a:gridCol w="2606040"/>
                <a:gridCol w="26060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 capping (used)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as outliers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85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9.72% of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1% only (99th pct.)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deviation after 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100.06 → 4.67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discarded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over-remove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(capped, not dropped)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869680" y="420624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customers had salaries as low as €11.58, causing the ratio to explode to 9,770.88 vs. a 75th-pctile of 1.51. Capping at the 99th percentile (35.48) preserved 100% of rows.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Models, Ordered by Increasing Complexity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09928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600200"/>
            <a:ext cx="15636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58568" y="160020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600200"/>
            <a:ext cx="1709928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2496312" y="1600200"/>
            <a:ext cx="15636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(balanced)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33088" y="160020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1709928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600200"/>
            <a:ext cx="15636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07608" y="160020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1709928" cy="1051560"/>
          </a:xfrm>
          <a:prstGeom prst="roundRect">
            <a:avLst>
              <a:gd name="adj" fmla="val 6957"/>
            </a:avLst>
          </a:prstGeom>
          <a:solidFill>
            <a:srgbClr val="1E8A6E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1600200"/>
            <a:ext cx="15636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82128" y="160020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1709928" cy="1051560"/>
          </a:xfrm>
          <a:prstGeom prst="roundRect">
            <a:avLst>
              <a:gd name="adj" fmla="val 6957"/>
            </a:avLst>
          </a:prstGeom>
          <a:solidFill>
            <a:srgbClr val="1E8A6E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1600200"/>
            <a:ext cx="15636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756648" y="160020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21240" y="1600200"/>
            <a:ext cx="1709928" cy="1051560"/>
          </a:xfrm>
          <a:prstGeom prst="roundRect">
            <a:avLst>
              <a:gd name="adj" fmla="val 6957"/>
            </a:avLst>
          </a:prstGeom>
          <a:solidFill>
            <a:srgbClr val="1E8A6E"/>
          </a:solidFill>
          <a:ln/>
        </p:spPr>
      </p:sp>
      <p:sp>
        <p:nvSpPr>
          <p:cNvPr id="20" name="Text 18"/>
          <p:cNvSpPr/>
          <p:nvPr/>
        </p:nvSpPr>
        <p:spPr>
          <a:xfrm>
            <a:off x="9994392" y="1600200"/>
            <a:ext cx="15636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ensembles (green) trained on unscaled features (scale-invariant splits); linear models (navy) used StandardScaler.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16233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4290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3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TRAIN-TEST SPLIT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388620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22365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8862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77440" y="38862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49040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20.37% churn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4599432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223655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5994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77440" y="45994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49040" y="45994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20.35% churn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77240" y="5349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sets preserve the original 20.37% churn rate — no leakage of class balance from train to test.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3246120"/>
            <a:ext cx="55321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4290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3794760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class_weight='balanced'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Decision Tree, Random Forest, and balanced Logistic Regression penalise minority-class errors proportionally to rarity.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09360" y="489204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scale_pos_weight = 3.908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XGBoost's native, model-specific imbalance correction (ratio of negative to positive instances).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Is a Convention, Not a Business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had the best ROC-AUC (0.867) — yet only 0.484 recall at the default 0.5 threshold. A threshold problem, not a model quality problem.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4846320" cy="0"/>
          </a:xfrm>
          <a:prstGeom prst="line">
            <a:avLst/>
          </a:prstGeom>
          <a:noFill/>
          <a:ln w="12700">
            <a:solidFill>
              <a:srgbClr val="3A4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29184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22365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334670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11680" y="36210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0.484 recall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22365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06908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41239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11680" y="43982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 &amp; R equally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84632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1E8A6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8463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49011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operating point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011680" y="51755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recall target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5577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a missed churner (lost lifetime value) costs more than an unnecessary retention email or call.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810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1488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via TreeExplainer decomposes each prediction into additive per-feature contributions.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306324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172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ranking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75120" y="35387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churn across the whole customer base.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92240" y="425196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3616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explanation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75120" y="47274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specific customer was flagged — usable by relationship managers.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5486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trend follows Lundberg &amp; Lee (2017), shifting churn prediction from opaque black-box models toward interpretable systems business stakeholders can trust.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Products Is the Sharpest Churn Signal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E8A6E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691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7.58%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589520" y="2331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for 2-product customers — the bank's safest segment by a wide margin.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379476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6233F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3931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5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3.26%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589520" y="448056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hold 3–4 products (266 + 60). The 82.7%/100% churn rates are directionally important but drawn from a thin sample — treat with caution.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Geography, Engagement, and a Counter-Intuitive Balance Finding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675120" cy="164592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Lower-risk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Higher-risk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 16.15% / Spain 16.67%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85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 32.44%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16.46%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85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25.07%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Membership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14.27%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85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26.85%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" y="3337560"/>
          <a:ext cx="6675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406640" y="1572768"/>
            <a:ext cx="4206240" cy="4507992"/>
          </a:xfrm>
          <a:prstGeom prst="roundRect">
            <a:avLst>
              <a:gd name="adj" fmla="val 2174"/>
            </a:avLst>
          </a:prstGeom>
          <a:solidFill>
            <a:srgbClr val="16233F"/>
          </a:solidFill>
          <a:ln/>
        </p:spPr>
      </p:sp>
      <p:sp>
        <p:nvSpPr>
          <p:cNvPr id="7" name="Text 3"/>
          <p:cNvSpPr/>
          <p:nvPr/>
        </p:nvSpPr>
        <p:spPr>
          <a:xfrm>
            <a:off x="763524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3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ZERO-BALANCE PARADOX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63524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13.8%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94640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82980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5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24.1%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635240" y="29718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Zero-balance customers churn less (13.8%) than non-zero-balance customers (24.1%) — the opposite of the natural assumption that low engagement signals higher risk.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35240" y="4343400"/>
            <a:ext cx="3749040" cy="0"/>
          </a:xfrm>
          <a:prstGeom prst="line">
            <a:avLst/>
          </a:prstGeom>
          <a:noFill/>
          <a:ln w="12700">
            <a:solidFill>
              <a:srgbClr val="3A4E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35240" y="45262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explanation: zero-balance customers may use the bank narrowly (e.g. a credit card alone) rather than as their primary relationship — structurally less likely to "leave" in the conventional sense.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Models at the Default Threshold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577840" cy="283464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  <a:gridCol w="914400"/>
                <a:gridCol w="914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85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(balanced)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and Random Forest achieve the highest ROC-AUC — the strongest underlying ability to rank customers by risk, independent of threshold. Plain Logistic Regression's low recall (0.19) confirms linear models struggle with the sharp, non-linear NumOfProducts effect.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55080" y="1600200"/>
          <a:ext cx="5257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 Cuts Missed Churners by Two-Thirds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3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— GRADIENT BOOSTING @ 0.206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4937760" cy="0"/>
          </a:xfrm>
          <a:prstGeom prst="line">
            <a:avLst/>
          </a:prstGeom>
          <a:noFill/>
          <a:ln w="12700">
            <a:solidFill>
              <a:srgbClr val="3A4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9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306 of 407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56235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churners correctly identified in the held-out test set — missing only 101, vs. 331 missed at the untuned default threshold.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6583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282 false-positive retention contacts — a deliberate cost given the asymmetric business impact.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(DEFAULT THRESHOLD)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240280"/>
          <a:ext cx="4937760" cy="18288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44652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tight 0.007 std. dev. in ROC-AUC across folds confirms the model's discriminative ability is stable — not an artefact of one favourable split. Cross-validated recall (0.479) closely matches the single-split result (0.484), independently confirming the default threshold systematically under-identifies churners.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Predictors Dominate: Products Held and Age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554480"/>
            <a:ext cx="4389120" cy="2148840"/>
          </a:xfrm>
          <a:prstGeom prst="roundRect">
            <a:avLst>
              <a:gd name="adj" fmla="val 4255"/>
            </a:avLst>
          </a:prstGeom>
          <a:solidFill>
            <a:srgbClr val="16233F"/>
          </a:solidFill>
          <a:ln/>
        </p:spPr>
      </p:sp>
      <p:sp>
        <p:nvSpPr>
          <p:cNvPr id="6" name="Text 3"/>
          <p:cNvSpPr/>
          <p:nvPr/>
        </p:nvSpPr>
        <p:spPr>
          <a:xfrm>
            <a:off x="740664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NumOfProducts &amp; Age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406640" y="219456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as dominant predictors across Random Forest importance, Gradient Boosting importance, AND SHAP — three independent methods agreeing.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23760" y="3886200"/>
            <a:ext cx="4389120" cy="2148840"/>
          </a:xfrm>
          <a:prstGeom prst="roundRect">
            <a:avLst>
              <a:gd name="adj" fmla="val 4255"/>
            </a:avLst>
          </a:prstGeom>
          <a:solidFill>
            <a:srgbClr val="F7F8FA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0416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DIRECTION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52360" y="437083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product count pushes predictions sharply toward churn; older age moderately pushes toward churn. Geography_Germany, Gender, IsActiveMember, and Engagement_Score form a consistent secondary tier; Tenure, HasCrCard, Geography_Spain are negligible.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Global Drivers to a Single Customer's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for a test-set customer the model flagged at 99.9% churn probability — an outcome later confirmed correct.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7589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965960"/>
            <a:ext cx="3246120" cy="4114800"/>
          </a:xfrm>
          <a:prstGeom prst="roundRect">
            <a:avLst>
              <a:gd name="adj" fmla="val 2817"/>
            </a:avLst>
          </a:prstGeom>
          <a:solidFill>
            <a:srgbClr val="16233F"/>
          </a:solidFill>
          <a:ln/>
        </p:spPr>
      </p:sp>
      <p:sp>
        <p:nvSpPr>
          <p:cNvPr id="7" name="Text 4"/>
          <p:cNvSpPr/>
          <p:nvPr/>
        </p:nvSpPr>
        <p:spPr>
          <a:xfrm>
            <a:off x="8595360" y="2148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6.917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595360" y="26517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output for this customer, decomposed additively from a baseline E[f(X)] = −1.928.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95360" y="3566160"/>
            <a:ext cx="2788920" cy="0"/>
          </a:xfrm>
          <a:prstGeom prst="line">
            <a:avLst/>
          </a:prstGeom>
          <a:noFill/>
          <a:ln w="12700">
            <a:solidFill>
              <a:srgbClr val="3A4E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37033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4 products contributes +4.02 — by far the single largest factor, dwarfing every other input.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0" y="47548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contribution aligns with the global churn drivers identified elsewhere in this study — individual reasoning is consistent with aggregate behaviour.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754880"/>
            <a:ext cx="3200400" cy="3200400"/>
          </a:xfrm>
          <a:prstGeom prst="ellipse">
            <a:avLst/>
          </a:prstGeom>
          <a:solidFill>
            <a:srgbClr val="1E8A6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Actions for the Retention Team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2365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Re-examine 3–4 Product Bundles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8775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Near-universal churn in this segment is the strongest single signal — investigate whether cross-selling pushes ill-fitting bundles.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8745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23655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the 2-Product Profile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98848" y="258775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7.58% churn — the bank's most stable segment. Guide single-product customers toward a second product.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83296" y="18745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23655"/>
          </a:solidFill>
          <a:ln/>
        </p:spPr>
      </p:sp>
      <p:sp>
        <p:nvSpPr>
          <p:cNvPr id="12" name="Text 10"/>
          <p:cNvSpPr/>
          <p:nvPr/>
        </p:nvSpPr>
        <p:spPr>
          <a:xfrm>
            <a:off x="8266176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Germany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66176" y="258775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32.44% churn vs ~16% elsewhere — worth a market-specific competitive and service-quality review.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2365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Re-engage Inactive Members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91947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26.85% vs 14.27% churn — a directly actionable lever via app engagement and personalised offers.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15968" y="42062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23655"/>
          </a:solidFill>
          <a:ln/>
        </p:spPr>
      </p:sp>
      <p:sp>
        <p:nvSpPr>
          <p:cNvPr id="18" name="Text 16"/>
          <p:cNvSpPr/>
          <p:nvPr/>
        </p:nvSpPr>
        <p:spPr>
          <a:xfrm>
            <a:off x="4498848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at Threshold 0.206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98848" y="491947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F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default 0.5 — accept more retention outreach to substantially reduce unflagged at-risk customers.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 in Retail Banking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2026-07-13T04:45:47Z</dcterms:created>
  <dcterms:modified xsi:type="dcterms:W3CDTF">2026-07-13T04:45:47Z</dcterms:modified>
</cp:coreProperties>
</file>